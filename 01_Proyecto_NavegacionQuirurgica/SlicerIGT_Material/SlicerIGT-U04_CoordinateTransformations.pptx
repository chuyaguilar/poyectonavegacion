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7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5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20B5-36C0-4794-9E01-220C2D3A21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FC5FD-8DBC-4524-99EA-FCD3D8A86D8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3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EFC5FD-8DBC-4524-99EA-FCD3D8A86D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11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EFC5FD-8DBC-4524-99EA-FCD3D8A86D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92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EFC5FD-8DBC-4524-99EA-FCD3D8A86D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1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EFC5FD-8DBC-4524-99EA-FCD3D8A86D8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959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49910" y="3831150"/>
            <a:ext cx="5651090" cy="1426649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SlicerIGT</a:t>
            </a:r>
            <a:r>
              <a:rPr lang="en-US" dirty="0"/>
              <a:t> Tutorial Series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1080626" y="3602038"/>
            <a:ext cx="1269284" cy="924063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2163096" y="3716594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82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74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0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664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3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81100"/>
            <a:ext cx="7886700" cy="4995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33501" y="6356351"/>
            <a:ext cx="4781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 i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CA" dirty="0" err="1"/>
              <a:t>SlicerIGT</a:t>
            </a:r>
            <a:r>
              <a:rPr lang="en-CA" dirty="0"/>
              <a:t> Tutorial Series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8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7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Coordinate transformations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SlicerIGT Tutorial Series</a:t>
            </a:r>
          </a:p>
        </p:txBody>
      </p:sp>
    </p:spTree>
    <p:extLst>
      <p:ext uri="{BB962C8B-B14F-4D97-AF65-F5344CB8AC3E}">
        <p14:creationId xmlns:p14="http://schemas.microsoft.com/office/powerpoint/2010/main" val="256613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Coordinate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Most problems in navigation systems are due to incomplete documentation of coordinate systems!</a:t>
            </a:r>
          </a:p>
          <a:p>
            <a:r>
              <a:rPr lang="en-CA" dirty="0"/>
              <a:t>Define a coordinate system for each object in your scene. E.g. needle, patient, CT image, etc.</a:t>
            </a:r>
          </a:p>
          <a:p>
            <a:r>
              <a:rPr lang="en-CA" dirty="0"/>
              <a:t>Draw schematics of coordinate systems. You must explicitly define for each coordinate system:</a:t>
            </a:r>
          </a:p>
          <a:p>
            <a:pPr lvl="1"/>
            <a:r>
              <a:rPr lang="en-CA" dirty="0"/>
              <a:t>Name (e.g. "</a:t>
            </a:r>
            <a:r>
              <a:rPr lang="en-CA" dirty="0" err="1"/>
              <a:t>NeedleTip</a:t>
            </a:r>
            <a:r>
              <a:rPr lang="en-CA" dirty="0"/>
              <a:t>", or "</a:t>
            </a:r>
            <a:r>
              <a:rPr lang="en-CA" dirty="0" err="1"/>
              <a:t>PatientMri</a:t>
            </a:r>
            <a:r>
              <a:rPr lang="en-CA" dirty="0"/>
              <a:t>")</a:t>
            </a:r>
          </a:p>
          <a:p>
            <a:pPr lvl="1"/>
            <a:r>
              <a:rPr lang="en-CA" dirty="0"/>
              <a:t>Origin, the (0,0,0) point?</a:t>
            </a:r>
          </a:p>
          <a:p>
            <a:pPr lvl="1"/>
            <a:r>
              <a:rPr lang="en-CA" dirty="0"/>
              <a:t>Direction of X, Y, Z axes?</a:t>
            </a:r>
          </a:p>
          <a:p>
            <a:pPr lvl="1"/>
            <a:r>
              <a:rPr lang="en-CA" dirty="0"/>
              <a:t>Unit of measure (e.g. millimeter)?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5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Coordinate transformations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1"/>
            <a:ext cx="7886700" cy="2636672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Coordinate transformations are defined between two coordinate systems (the </a:t>
            </a:r>
            <a:r>
              <a:rPr lang="en-CA" b="1" i="1" dirty="0"/>
              <a:t>From</a:t>
            </a:r>
            <a:r>
              <a:rPr lang="en-CA" i="1" dirty="0"/>
              <a:t> </a:t>
            </a:r>
            <a:r>
              <a:rPr lang="en-CA" dirty="0"/>
              <a:t>and the </a:t>
            </a:r>
            <a:r>
              <a:rPr lang="en-CA" b="1" i="1" dirty="0"/>
              <a:t>To </a:t>
            </a:r>
            <a:r>
              <a:rPr lang="en-CA" dirty="0"/>
              <a:t>coordinate system)</a:t>
            </a:r>
          </a:p>
          <a:p>
            <a:r>
              <a:rPr lang="en-CA" dirty="0"/>
              <a:t>Draw transformations as arrows from their </a:t>
            </a:r>
            <a:r>
              <a:rPr lang="en-CA" b="1" i="1" dirty="0"/>
              <a:t>From</a:t>
            </a:r>
            <a:r>
              <a:rPr lang="en-CA" dirty="0"/>
              <a:t> to their </a:t>
            </a:r>
            <a:r>
              <a:rPr lang="en-CA" b="1" i="1" dirty="0"/>
              <a:t>To </a:t>
            </a:r>
            <a:r>
              <a:rPr lang="en-CA" dirty="0"/>
              <a:t>coordinate system</a:t>
            </a:r>
          </a:p>
          <a:p>
            <a:r>
              <a:rPr lang="en-CA" dirty="0"/>
              <a:t>A chain of transformations is the same as one transformation from the first </a:t>
            </a:r>
            <a:r>
              <a:rPr lang="en-CA" b="1" i="1" dirty="0"/>
              <a:t>From</a:t>
            </a:r>
            <a:r>
              <a:rPr lang="en-CA" dirty="0"/>
              <a:t> to the last </a:t>
            </a:r>
            <a:r>
              <a:rPr lang="en-CA" b="1" i="1" dirty="0"/>
              <a:t>To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3</a:t>
            </a:fld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969678" y="4038164"/>
            <a:ext cx="1725804" cy="1790152"/>
            <a:chOff x="457200" y="2538948"/>
            <a:chExt cx="1725804" cy="1790152"/>
          </a:xfrm>
        </p:grpSpPr>
        <p:cxnSp>
          <p:nvCxnSpPr>
            <p:cNvPr id="36" name="Straight Arrow Connector 35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1366245" y="5274318"/>
            <a:ext cx="1139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Reference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6401551" y="3877397"/>
            <a:ext cx="1725804" cy="1790152"/>
            <a:chOff x="457200" y="2538948"/>
            <a:chExt cx="1725804" cy="1790152"/>
          </a:xfrm>
        </p:grpSpPr>
        <p:cxnSp>
          <p:nvCxnSpPr>
            <p:cNvPr id="44" name="Straight Arrow Connector 43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6870946" y="5113551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Needle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4075393" y="4393243"/>
            <a:ext cx="1725804" cy="1790152"/>
            <a:chOff x="457200" y="2538948"/>
            <a:chExt cx="1725804" cy="1790152"/>
          </a:xfrm>
        </p:grpSpPr>
        <p:cxnSp>
          <p:nvCxnSpPr>
            <p:cNvPr id="52" name="Straight Arrow Connector 51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4544788" y="5629397"/>
            <a:ext cx="874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Tracker</a:t>
            </a:r>
          </a:p>
        </p:txBody>
      </p:sp>
      <p:sp>
        <p:nvSpPr>
          <p:cNvPr id="59" name="Arc 58"/>
          <p:cNvSpPr/>
          <p:nvPr/>
        </p:nvSpPr>
        <p:spPr>
          <a:xfrm>
            <a:off x="1944753" y="4218409"/>
            <a:ext cx="5447130" cy="2422147"/>
          </a:xfrm>
          <a:prstGeom prst="arc">
            <a:avLst>
              <a:gd name="adj1" fmla="val 11305467"/>
              <a:gd name="adj2" fmla="val 20030726"/>
            </a:avLst>
          </a:prstGeom>
          <a:ln w="25400">
            <a:solidFill>
              <a:schemeClr val="tx1"/>
            </a:solidFill>
            <a:prstDash val="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Arc 59"/>
          <p:cNvSpPr/>
          <p:nvPr/>
        </p:nvSpPr>
        <p:spPr>
          <a:xfrm>
            <a:off x="4641207" y="3717301"/>
            <a:ext cx="2548786" cy="2310210"/>
          </a:xfrm>
          <a:prstGeom prst="arc">
            <a:avLst>
              <a:gd name="adj1" fmla="val 1884859"/>
              <a:gd name="adj2" fmla="val 6828960"/>
            </a:avLst>
          </a:prstGeom>
          <a:ln w="25400">
            <a:solidFill>
              <a:schemeClr val="tx1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1" name="Arc 60"/>
          <p:cNvSpPr/>
          <p:nvPr/>
        </p:nvSpPr>
        <p:spPr>
          <a:xfrm>
            <a:off x="1111501" y="3583871"/>
            <a:ext cx="3988599" cy="2310210"/>
          </a:xfrm>
          <a:prstGeom prst="arc">
            <a:avLst>
              <a:gd name="adj1" fmla="val 2892416"/>
              <a:gd name="adj2" fmla="val 8351339"/>
            </a:avLst>
          </a:prstGeom>
          <a:ln w="25400">
            <a:solidFill>
              <a:schemeClr val="tx1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TextBox 61"/>
          <p:cNvSpPr txBox="1"/>
          <p:nvPr/>
        </p:nvSpPr>
        <p:spPr>
          <a:xfrm>
            <a:off x="3550849" y="3843816"/>
            <a:ext cx="2034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rgbClr val="0000FF"/>
                </a:solidFill>
              </a:rPr>
              <a:t>NeedleToReference</a:t>
            </a:r>
            <a:endParaRPr lang="en-CA" b="1" dirty="0">
              <a:solidFill>
                <a:srgbClr val="0000FF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548166" y="5829479"/>
            <a:ext cx="1770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rgbClr val="0000FF"/>
                </a:solidFill>
              </a:rPr>
              <a:t>NeedleToTracker</a:t>
            </a:r>
            <a:endParaRPr lang="en-CA" b="1" dirty="0">
              <a:solidFill>
                <a:srgbClr val="0000FF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958650" y="5873543"/>
            <a:ext cx="2047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rgbClr val="0000FF"/>
                </a:solidFill>
              </a:rPr>
              <a:t>TrackerToReference</a:t>
            </a:r>
            <a:endParaRPr lang="en-CA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729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Best practices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Start new systems by writing down the coordinate transformations on paper. Keep this schematics up-to-date as the system develops.</a:t>
            </a:r>
          </a:p>
          <a:p>
            <a:r>
              <a:rPr lang="en-CA" dirty="0"/>
              <a:t>Always follow naming conventions. All transformations should be named </a:t>
            </a:r>
            <a:r>
              <a:rPr lang="en-CA" b="1" dirty="0" err="1"/>
              <a:t>AlphaToBeta</a:t>
            </a:r>
            <a:r>
              <a:rPr lang="en-CA" b="1" dirty="0"/>
              <a:t> </a:t>
            </a:r>
            <a:r>
              <a:rPr lang="en-CA" dirty="0"/>
              <a:t>where </a:t>
            </a:r>
            <a:r>
              <a:rPr lang="en-CA" b="1" dirty="0"/>
              <a:t>Alpha </a:t>
            </a:r>
            <a:r>
              <a:rPr lang="en-CA" dirty="0"/>
              <a:t>and </a:t>
            </a:r>
            <a:r>
              <a:rPr lang="en-CA" b="1" dirty="0"/>
              <a:t>Beta </a:t>
            </a:r>
            <a:r>
              <a:rPr lang="en-CA" dirty="0"/>
              <a:t>are explicitly defined.</a:t>
            </a:r>
          </a:p>
          <a:p>
            <a:r>
              <a:rPr lang="en-CA" dirty="0"/>
              <a:t>There is no special coordinate system! Avoid the use of a </a:t>
            </a:r>
            <a:r>
              <a:rPr lang="en-CA" b="1" i="1" dirty="0"/>
              <a:t>"World"</a:t>
            </a:r>
            <a:r>
              <a:rPr lang="en-CA" dirty="0"/>
              <a:t> coordinate system. All coordinate systems are equal, and it often makes work easier if the system is examined from different coordinate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78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The RAS coordinate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3D Slicer defines a coordinate system, called </a:t>
            </a:r>
            <a:r>
              <a:rPr lang="en-CA" b="1" dirty="0"/>
              <a:t>RAS</a:t>
            </a:r>
            <a:r>
              <a:rPr lang="en-CA" dirty="0"/>
              <a:t>, which is used for graphics visualization.</a:t>
            </a:r>
          </a:p>
          <a:p>
            <a:pPr lvl="1"/>
            <a:r>
              <a:rPr lang="en-CA" dirty="0"/>
              <a:t>RAS </a:t>
            </a:r>
            <a:r>
              <a:rPr lang="en-CA" b="1" dirty="0"/>
              <a:t>origin </a:t>
            </a:r>
            <a:r>
              <a:rPr lang="en-CA" dirty="0"/>
              <a:t>is the center of the visualization views</a:t>
            </a:r>
          </a:p>
          <a:p>
            <a:pPr lvl="1"/>
            <a:r>
              <a:rPr lang="en-CA" dirty="0"/>
              <a:t>RAS </a:t>
            </a:r>
            <a:r>
              <a:rPr lang="en-CA" b="1" dirty="0"/>
              <a:t>axes </a:t>
            </a:r>
            <a:r>
              <a:rPr lang="en-CA" dirty="0"/>
              <a:t>point towards the R, A, and S letters in Slicer</a:t>
            </a:r>
          </a:p>
          <a:p>
            <a:pPr lvl="1"/>
            <a:r>
              <a:rPr lang="en-CA" dirty="0"/>
              <a:t>RAS </a:t>
            </a:r>
            <a:r>
              <a:rPr lang="en-CA" b="1" dirty="0"/>
              <a:t>units </a:t>
            </a:r>
            <a:r>
              <a:rPr lang="en-CA" dirty="0"/>
              <a:t>are millimeters</a:t>
            </a:r>
          </a:p>
          <a:p>
            <a:r>
              <a:rPr lang="en-CA" dirty="0"/>
              <a:t>Since objects in 3D Slicer are visualized in RAS, you need to transform tracked objects to RAS to visualize them in correct positions.</a:t>
            </a:r>
          </a:p>
          <a:p>
            <a:r>
              <a:rPr lang="en-CA" dirty="0"/>
              <a:t>Sometimes it is necessary to visualize objects in another coordinate system, e.g. </a:t>
            </a:r>
            <a:r>
              <a:rPr lang="en-CA" b="1" dirty="0"/>
              <a:t>Reference</a:t>
            </a:r>
            <a:r>
              <a:rPr lang="en-CA" dirty="0"/>
              <a:t> in which case </a:t>
            </a:r>
            <a:r>
              <a:rPr lang="en-CA" b="1" dirty="0"/>
              <a:t>RAS </a:t>
            </a:r>
            <a:r>
              <a:rPr lang="en-CA" dirty="0"/>
              <a:t>effectively becomes </a:t>
            </a:r>
            <a:r>
              <a:rPr lang="en-CA" b="1" dirty="0"/>
              <a:t>Reference</a:t>
            </a:r>
            <a:r>
              <a:rPr lang="en-CA" dirty="0"/>
              <a:t> in Slicer.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90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279F6AD-AA8C-45A1-A542-6DD75D64C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405" y="1125051"/>
            <a:ext cx="4171429" cy="33428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26" y="4960667"/>
            <a:ext cx="2057143" cy="12476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Create a transformation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86323" y="1693658"/>
            <a:ext cx="1560686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898014" y="1249032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52088" y="3819294"/>
            <a:ext cx="2875673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215215" y="3366781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2166" y="1197621"/>
            <a:ext cx="4329239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CA" sz="2400" dirty="0"/>
              <a:t>Select the Transforms module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CA" sz="2400" dirty="0"/>
              <a:t>From the Active Transform dropdown menu, select “Create new </a:t>
            </a:r>
            <a:r>
              <a:rPr lang="en-CA" sz="2400" dirty="0" err="1"/>
              <a:t>LinearTransform</a:t>
            </a:r>
            <a:r>
              <a:rPr lang="en-CA" sz="2400" dirty="0"/>
              <a:t> as...”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CA" sz="2400" dirty="0"/>
              <a:t>Give the name </a:t>
            </a:r>
            <a:r>
              <a:rPr lang="en-CA" sz="2400" dirty="0" err="1"/>
              <a:t>ModelToRas</a:t>
            </a:r>
            <a:r>
              <a:rPr lang="en-CA" sz="2400" dirty="0"/>
              <a:t> to your new transform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CA" sz="2400" dirty="0"/>
              <a:t>The Edit section of Transforms module now offers sliders to move and rotate your transform. But it doesn’t transform anything yet.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882910" y="5433666"/>
            <a:ext cx="1966730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833457" y="5317881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955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9249B1-DC9B-4828-A629-F5E7EEE6A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286" y="1092521"/>
            <a:ext cx="4485714" cy="4904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Create a model to be transformed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638423" y="1359193"/>
            <a:ext cx="1560686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50114" y="914567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21581" y="5595377"/>
            <a:ext cx="2237048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881326" y="5072158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2167" y="1197621"/>
            <a:ext cx="402983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CA" sz="2400" dirty="0"/>
              <a:t>Select IGT/</a:t>
            </a:r>
            <a:r>
              <a:rPr lang="en-CA" sz="2400" dirty="0" err="1"/>
              <a:t>CreateModels</a:t>
            </a:r>
            <a:r>
              <a:rPr lang="en-CA" sz="2400" dirty="0"/>
              <a:t>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CA" sz="2400" dirty="0"/>
              <a:t>Press Create coordinate system to create a coordinate system model.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CA" sz="2400" dirty="0"/>
              <a:t>Observe a model created in the 3D view. Drag the 3D background with your mouse to rotate the view.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8063" y="4552386"/>
            <a:ext cx="1587659" cy="156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969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E68878-F432-484F-BE73-ABF8169DC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025" y="1254353"/>
            <a:ext cx="3323809" cy="33904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Apply the transform on the model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242948" y="1499769"/>
            <a:ext cx="1560686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70040" y="1071056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78025" y="3951341"/>
            <a:ext cx="1873274" cy="39650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549724" y="2719180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2166" y="1197621"/>
            <a:ext cx="4603148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CA" sz="2400" dirty="0"/>
              <a:t>Select </a:t>
            </a:r>
            <a:r>
              <a:rPr lang="en-CA" sz="2400" b="1" dirty="0"/>
              <a:t>Data </a:t>
            </a:r>
            <a:r>
              <a:rPr lang="en-CA" sz="2400" dirty="0"/>
              <a:t>module and </a:t>
            </a:r>
            <a:r>
              <a:rPr lang="en-CA" sz="2400" b="1" dirty="0"/>
              <a:t>Transform hierarchy</a:t>
            </a:r>
            <a:r>
              <a:rPr lang="en-CA" sz="2400" dirty="0"/>
              <a:t> tab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CA" sz="2400" dirty="0"/>
              <a:t>Drag and drop the </a:t>
            </a:r>
            <a:r>
              <a:rPr lang="en-CA" sz="2400" b="1" dirty="0" err="1"/>
              <a:t>CoordinateModel</a:t>
            </a:r>
            <a:r>
              <a:rPr lang="en-CA" sz="2400" dirty="0"/>
              <a:t> on </a:t>
            </a:r>
            <a:r>
              <a:rPr lang="en-CA" sz="2400" b="1" dirty="0" err="1"/>
              <a:t>ModelToRas</a:t>
            </a:r>
            <a:r>
              <a:rPr lang="en-CA" sz="2400" dirty="0"/>
              <a:t>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CA" sz="2400" dirty="0"/>
              <a:t>As a result, the position of </a:t>
            </a:r>
            <a:r>
              <a:rPr lang="en-CA" sz="2400" b="1" dirty="0" err="1"/>
              <a:t>CubeModel</a:t>
            </a:r>
            <a:r>
              <a:rPr lang="en-CA" sz="2400" dirty="0"/>
              <a:t> will be transformed by </a:t>
            </a:r>
            <a:r>
              <a:rPr lang="en-CA" sz="2400" b="1" dirty="0" err="1"/>
              <a:t>ModelToRas</a:t>
            </a:r>
            <a:r>
              <a:rPr lang="en-CA" sz="2400" dirty="0"/>
              <a:t>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CA" sz="2400" dirty="0"/>
              <a:t>Go back to </a:t>
            </a:r>
            <a:r>
              <a:rPr lang="en-CA" sz="2400" b="1" dirty="0"/>
              <a:t>Transforms</a:t>
            </a:r>
            <a:r>
              <a:rPr lang="en-CA" sz="2400" dirty="0"/>
              <a:t> module, and change the </a:t>
            </a:r>
            <a:r>
              <a:rPr lang="en-CA" sz="2400" b="1" dirty="0" err="1"/>
              <a:t>ModelToRas</a:t>
            </a:r>
            <a:r>
              <a:rPr lang="en-CA" sz="2400" dirty="0"/>
              <a:t> transform using the sliders. This should move the model.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5186BA-3DD6-4711-877C-65205D3663CA}"/>
              </a:ext>
            </a:extLst>
          </p:cNvPr>
          <p:cNvSpPr/>
          <p:nvPr/>
        </p:nvSpPr>
        <p:spPr>
          <a:xfrm>
            <a:off x="6356037" y="3160887"/>
            <a:ext cx="1560686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398FE2-F2E2-475E-8D9C-786DEF244EC3}"/>
              </a:ext>
            </a:extLst>
          </p:cNvPr>
          <p:cNvSpPr txBox="1"/>
          <p:nvPr/>
        </p:nvSpPr>
        <p:spPr>
          <a:xfrm>
            <a:off x="6798472" y="3501090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3.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486D73-99EE-4C12-925E-35D26F085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828" y="4838979"/>
            <a:ext cx="1802239" cy="142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451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39CA542-36B9-4ECC-8444-8977C8727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309" y="3969557"/>
            <a:ext cx="2542857" cy="18761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About transformations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Transforms can be stacked in a multi-level hierarchy. Name transforms correctly, and place them on each other based on their names.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9443" y="4858643"/>
            <a:ext cx="1716499" cy="6930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568496" y="3510531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Scene = RAS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/>
          <p:cNvCxnSpPr>
            <a:cxnSpLocks/>
            <a:stCxn id="7" idx="2"/>
          </p:cNvCxnSpPr>
          <p:nvPr/>
        </p:nvCxnSpPr>
        <p:spPr>
          <a:xfrm flipH="1">
            <a:off x="6616892" y="3879863"/>
            <a:ext cx="614606" cy="78622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316" y="2547257"/>
            <a:ext cx="537033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>
              <a:buFont typeface="Arial" panose="020B0604020202020204" pitchFamily="34" charset="0"/>
              <a:buChar char="•"/>
            </a:pPr>
            <a:r>
              <a:rPr lang="en-CA" sz="2800" dirty="0"/>
              <a:t>A hierarchy should be read from the leaf to the root of the tree graph. Name endings should connect.</a:t>
            </a: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en-CA" sz="2800" dirty="0"/>
              <a:t>If the leaf is a visible object, the last transform should end in “Ras” to bring all visual objects in the </a:t>
            </a:r>
            <a:r>
              <a:rPr lang="en-CA" sz="2800" b="1" dirty="0"/>
              <a:t>RAS</a:t>
            </a:r>
            <a:r>
              <a:rPr lang="en-CA" sz="2800" dirty="0"/>
              <a:t> coordinate system.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80512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Transforms are relative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transform e.g. </a:t>
            </a:r>
            <a:r>
              <a:rPr lang="en-CA" b="1" dirty="0" err="1"/>
              <a:t>StylusToReference</a:t>
            </a:r>
            <a:r>
              <a:rPr lang="en-CA" dirty="0"/>
              <a:t> only reports on the </a:t>
            </a:r>
            <a:r>
              <a:rPr lang="en-CA" dirty="0" err="1"/>
              <a:t>positiong</a:t>
            </a:r>
            <a:r>
              <a:rPr lang="en-CA" dirty="0"/>
              <a:t> of </a:t>
            </a:r>
            <a:r>
              <a:rPr lang="en-CA" b="1" dirty="0"/>
              <a:t>Stylus</a:t>
            </a:r>
            <a:r>
              <a:rPr lang="en-CA" dirty="0"/>
              <a:t> relative to </a:t>
            </a:r>
            <a:r>
              <a:rPr lang="en-CA" b="1" dirty="0"/>
              <a:t>Reference</a:t>
            </a:r>
          </a:p>
          <a:p>
            <a:r>
              <a:rPr lang="en-CA" dirty="0"/>
              <a:t>When </a:t>
            </a:r>
            <a:r>
              <a:rPr lang="en-CA" b="1" dirty="0" err="1"/>
              <a:t>StylusToReference</a:t>
            </a:r>
            <a:r>
              <a:rPr lang="en-CA" dirty="0"/>
              <a:t> changes, </a:t>
            </a:r>
            <a:r>
              <a:rPr lang="en-CA" b="1" dirty="0"/>
              <a:t>Stylus</a:t>
            </a:r>
            <a:r>
              <a:rPr lang="en-CA" dirty="0"/>
              <a:t> or </a:t>
            </a:r>
            <a:r>
              <a:rPr lang="en-CA" b="1" dirty="0"/>
              <a:t>Reference</a:t>
            </a:r>
            <a:r>
              <a:rPr lang="en-CA" dirty="0"/>
              <a:t> or both can be moving relative to the "room"</a:t>
            </a:r>
          </a:p>
          <a:p>
            <a:r>
              <a:rPr lang="en-CA" dirty="0"/>
              <a:t>To illustrate this, load </a:t>
            </a:r>
            <a:r>
              <a:rPr lang="en-CA" b="1" dirty="0" err="1"/>
              <a:t>SlicerIGT</a:t>
            </a:r>
            <a:r>
              <a:rPr lang="en-CA" b="1" dirty="0"/>
              <a:t>-Data\</a:t>
            </a:r>
            <a:r>
              <a:rPr lang="en-CA" b="1" dirty="0" err="1"/>
              <a:t>PivotRelative.mrb</a:t>
            </a:r>
            <a:r>
              <a:rPr lang="en-CA" b="1" dirty="0"/>
              <a:t> </a:t>
            </a:r>
            <a:r>
              <a:rPr lang="en-CA" dirty="0"/>
              <a:t>scene, select </a:t>
            </a:r>
            <a:r>
              <a:rPr lang="en-CA" b="1" dirty="0" err="1"/>
              <a:t>PivotRelative</a:t>
            </a:r>
            <a:r>
              <a:rPr lang="en-CA" dirty="0"/>
              <a:t> sequence browser in the </a:t>
            </a:r>
            <a:r>
              <a:rPr lang="en-CA" b="1" dirty="0"/>
              <a:t>Sequences / Sequence browser</a:t>
            </a:r>
            <a:r>
              <a:rPr lang="en-CA" dirty="0"/>
              <a:t> module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65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PivotRelative</a:t>
            </a:r>
            <a:r>
              <a:rPr lang="en-CA" dirty="0"/>
              <a:t> scene replay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11</a:t>
            </a:fld>
            <a:endParaRPr lang="en-US"/>
          </a:p>
        </p:txBody>
      </p:sp>
      <p:pic>
        <p:nvPicPr>
          <p:cNvPr id="5" name="PivotRelative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" y="1152069"/>
            <a:ext cx="85344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5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5AEEC3C-57F5-458C-A259-BEA2AFF0D77B}" vid="{F032F1CB-9777-488E-B287-8CA49E564C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SlicerIGT-TutorialTemplate</Template>
  <TotalTime>481</TotalTime>
  <Words>669</Words>
  <Application>Microsoft Office PowerPoint</Application>
  <PresentationFormat>Presentación en pantalla (4:3)</PresentationFormat>
  <Paragraphs>86</Paragraphs>
  <Slides>11</Slides>
  <Notes>4</Notes>
  <HiddenSlides>0</HiddenSlides>
  <MMClips>1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Office Theme</vt:lpstr>
      <vt:lpstr>Coordinate transformations</vt:lpstr>
      <vt:lpstr>Coordinate systems</vt:lpstr>
      <vt:lpstr>Coordinate transformations</vt:lpstr>
      <vt:lpstr>Best practices</vt:lpstr>
      <vt:lpstr>The RAS coordinate system</vt:lpstr>
      <vt:lpstr>Create a transformation</vt:lpstr>
      <vt:lpstr>Create a model to be transformed</vt:lpstr>
      <vt:lpstr>Apply the transform on the model</vt:lpstr>
      <vt:lpstr>About transformations</vt:lpstr>
      <vt:lpstr>Transforms are relative</vt:lpstr>
      <vt:lpstr>PivotRelative scene replay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Tamas Ungi</dc:creator>
  <cp:lastModifiedBy>Tamas Ungi</cp:lastModifiedBy>
  <cp:revision>34</cp:revision>
  <dcterms:created xsi:type="dcterms:W3CDTF">2014-04-04T16:52:35Z</dcterms:created>
  <dcterms:modified xsi:type="dcterms:W3CDTF">2026-04-13T17:00:21Z</dcterms:modified>
</cp:coreProperties>
</file>