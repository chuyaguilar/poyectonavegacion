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7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20B5-36C0-4794-9E01-220C2D3A21D1}" type="datetimeFigureOut">
              <a:rPr lang="en-US" smtClean="0"/>
              <a:t>12/30/2016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FC5FD-8DBC-4524-99EA-FCD3D8A86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3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49910" y="3831150"/>
            <a:ext cx="5651090" cy="1426649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SlicerIGT</a:t>
            </a:r>
            <a:r>
              <a:rPr lang="en-US" dirty="0"/>
              <a:t> Tutorial Series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1080626" y="3602038"/>
            <a:ext cx="1269284" cy="92406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2163096" y="3716594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2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0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81100"/>
            <a:ext cx="7886700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3501" y="6356351"/>
            <a:ext cx="4781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CA" dirty="0" err="1"/>
              <a:t>SlicerIGT</a:t>
            </a:r>
            <a:r>
              <a:rPr lang="en-CA" dirty="0"/>
              <a:t> Tutorial Series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slicer.org/wiki/Modules:Models-Documenta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Tool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SlicerIGT </a:t>
            </a:r>
            <a:r>
              <a:rPr lang="en-US"/>
              <a:t>Tutorial Series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13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Create simple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4901817" cy="4995863"/>
          </a:xfrm>
        </p:spPr>
        <p:txBody>
          <a:bodyPr/>
          <a:lstStyle/>
          <a:p>
            <a:r>
              <a:rPr lang="en-US" dirty="0"/>
              <a:t>Select </a:t>
            </a:r>
            <a:r>
              <a:rPr lang="en-US" b="1" dirty="0"/>
              <a:t>IGT / </a:t>
            </a:r>
            <a:r>
              <a:rPr lang="en-US" b="1" dirty="0" err="1"/>
              <a:t>CreateModels</a:t>
            </a:r>
            <a:r>
              <a:rPr lang="en-US" dirty="0"/>
              <a:t> module</a:t>
            </a:r>
          </a:p>
          <a:p>
            <a:r>
              <a:rPr lang="en-US" dirty="0"/>
              <a:t>Use the module widget on the left to create simple models with size parameters</a:t>
            </a:r>
          </a:p>
          <a:p>
            <a:r>
              <a:rPr lang="en-US" dirty="0"/>
              <a:t>In the coordinate system model, X is marked with an arrow tip, Y and Z are defined if right-handedness is assumed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333" y="1006810"/>
            <a:ext cx="3533333" cy="17809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10" y="3437261"/>
            <a:ext cx="2103011" cy="20506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57950" y="531013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3314" y="4318177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0070C0"/>
                </a:solidFill>
              </a:rPr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0462" y="3394619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0070C0"/>
                </a:solidFill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19911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Needle / stylus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4717745" cy="4995863"/>
          </a:xfrm>
        </p:spPr>
        <p:txBody>
          <a:bodyPr/>
          <a:lstStyle/>
          <a:p>
            <a:r>
              <a:rPr lang="en-CA" dirty="0"/>
              <a:t>Optional depth markers can be created for the needle model. Marks are 10 mm apart as in most medical needles.</a:t>
            </a:r>
          </a:p>
          <a:p>
            <a:r>
              <a:rPr lang="en-CA" dirty="0"/>
              <a:t>Needle models and stylus models conventionally point towards the Z axis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395" y="1181100"/>
            <a:ext cx="3695238" cy="1152381"/>
          </a:xfrm>
          <a:prstGeom prst="rect">
            <a:avLst/>
          </a:prstGeom>
        </p:spPr>
      </p:pic>
      <p:pic>
        <p:nvPicPr>
          <p:cNvPr id="1026" name="Picture 2" descr="C:\Users\ungi\AppData\Local\Temp\SNAGHTMLb587c8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116" y="3254018"/>
            <a:ext cx="2789258" cy="176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110640" y="3732002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041" y="4794524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0070C0"/>
                </a:solidFill>
              </a:rPr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0543" y="5195670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0070C0"/>
                </a:solidFill>
              </a:rPr>
              <a:t>Z</a:t>
            </a:r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5655733" y="4836405"/>
            <a:ext cx="446030" cy="36777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 flipH="1" flipV="1">
            <a:off x="6087944" y="4047067"/>
            <a:ext cx="22696" cy="78933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6128859" y="4827662"/>
            <a:ext cx="557494" cy="9143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427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Load models from PLUS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Select IGT / Plus model catalog browser module</a:t>
            </a:r>
          </a:p>
          <a:p>
            <a:r>
              <a:rPr lang="en-CA" dirty="0"/>
              <a:t>Click Show/hide catalog to open the PLUS model catalog website</a:t>
            </a:r>
          </a:p>
          <a:p>
            <a:r>
              <a:rPr lang="en-CA" dirty="0"/>
              <a:t>Click on .</a:t>
            </a:r>
            <a:r>
              <a:rPr lang="en-CA" dirty="0" err="1"/>
              <a:t>stl</a:t>
            </a:r>
            <a:r>
              <a:rPr lang="en-CA" dirty="0"/>
              <a:t> files to download a model</a:t>
            </a:r>
          </a:p>
          <a:p>
            <a:r>
              <a:rPr lang="en-CA" dirty="0"/>
              <a:t>Additional files are also available, e.g. a CT volume of the spine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302880"/>
            <a:ext cx="3123809" cy="7809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211" y="4196503"/>
            <a:ext cx="4404139" cy="1980460"/>
          </a:xfrm>
          <a:prstGeom prst="rect">
            <a:avLst/>
          </a:prstGeom>
        </p:spPr>
      </p:pic>
      <p:sp>
        <p:nvSpPr>
          <p:cNvPr id="7" name="Arrow: Down 6"/>
          <p:cNvSpPr/>
          <p:nvPr/>
        </p:nvSpPr>
        <p:spPr>
          <a:xfrm>
            <a:off x="2280356" y="4018844"/>
            <a:ext cx="237066" cy="38382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Down 7"/>
          <p:cNvSpPr/>
          <p:nvPr/>
        </p:nvSpPr>
        <p:spPr>
          <a:xfrm>
            <a:off x="2643506" y="4196503"/>
            <a:ext cx="237066" cy="38382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787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Create models in CAD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FreeCAD</a:t>
            </a:r>
            <a:r>
              <a:rPr lang="en-CA" dirty="0"/>
              <a:t>, SolidWorks, Blender, etc.</a:t>
            </a:r>
          </a:p>
          <a:p>
            <a:r>
              <a:rPr lang="en-CA" dirty="0"/>
              <a:t>Save in STL format, units should be millimeters</a:t>
            </a:r>
          </a:p>
          <a:p>
            <a:r>
              <a:rPr lang="en-CA" dirty="0"/>
              <a:t>When exporting model in STL, choose and document an intuitive coordinate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984" y="3295221"/>
            <a:ext cx="5078032" cy="275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5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Models by image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Load </a:t>
            </a:r>
            <a:r>
              <a:rPr lang="en-CA" b="1" dirty="0"/>
              <a:t>SkullPhantom1mm.nrrd </a:t>
            </a:r>
            <a:r>
              <a:rPr lang="en-CA" dirty="0"/>
              <a:t>from the tutorial data folder</a:t>
            </a:r>
          </a:p>
          <a:p>
            <a:r>
              <a:rPr lang="en-CA" dirty="0"/>
              <a:t>Select Segment Editor module</a:t>
            </a:r>
          </a:p>
          <a:p>
            <a:r>
              <a:rPr lang="en-CA" dirty="0"/>
              <a:t>Click Add segment</a:t>
            </a:r>
          </a:p>
          <a:p>
            <a:r>
              <a:rPr lang="en-CA" dirty="0"/>
              <a:t>Use the segmentation tools ("</a:t>
            </a:r>
            <a:r>
              <a:rPr lang="en-CA" b="1" i="1" dirty="0"/>
              <a:t>Effects</a:t>
            </a:r>
            <a:r>
              <a:rPr lang="en-CA" dirty="0"/>
              <a:t>") to segment</a:t>
            </a:r>
          </a:p>
          <a:p>
            <a:r>
              <a:rPr lang="en-CA" dirty="0"/>
              <a:t>Hint: Such objects CT scanned in air can be </a:t>
            </a:r>
            <a:r>
              <a:rPr lang="en-CA" dirty="0" err="1"/>
              <a:t>quicly</a:t>
            </a:r>
            <a:r>
              <a:rPr lang="en-CA" dirty="0"/>
              <a:t> segmented using threshold followed by scissors</a:t>
            </a:r>
          </a:p>
          <a:p>
            <a:r>
              <a:rPr lang="en-CA" dirty="0"/>
              <a:t>Select </a:t>
            </a:r>
            <a:r>
              <a:rPr lang="en-CA" b="1" dirty="0"/>
              <a:t>Segmentations</a:t>
            </a:r>
            <a:r>
              <a:rPr lang="en-CA" dirty="0"/>
              <a:t> module</a:t>
            </a:r>
          </a:p>
          <a:p>
            <a:r>
              <a:rPr lang="en-CA" dirty="0"/>
              <a:t>Export a new model under the </a:t>
            </a:r>
            <a:r>
              <a:rPr lang="en-CA" b="1" dirty="0"/>
              <a:t>Export/import segments </a:t>
            </a:r>
            <a:r>
              <a:rPr lang="en-CA" dirty="0"/>
              <a:t>panel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7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91" y="3286291"/>
            <a:ext cx="4085714" cy="26761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Skull model from segmentation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7</a:t>
            </a:fld>
            <a:endParaRPr lang="en-US"/>
          </a:p>
        </p:txBody>
      </p:sp>
      <p:sp>
        <p:nvSpPr>
          <p:cNvPr id="6" name="Arrow: Down 5"/>
          <p:cNvSpPr/>
          <p:nvPr/>
        </p:nvSpPr>
        <p:spPr>
          <a:xfrm>
            <a:off x="2600775" y="3071802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Down 6"/>
          <p:cNvSpPr/>
          <p:nvPr/>
        </p:nvSpPr>
        <p:spPr>
          <a:xfrm>
            <a:off x="890509" y="4802447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91" y="1408074"/>
            <a:ext cx="4247619" cy="1485714"/>
          </a:xfrm>
          <a:prstGeom prst="rect">
            <a:avLst/>
          </a:prstGeom>
        </p:spPr>
      </p:pic>
      <p:sp>
        <p:nvSpPr>
          <p:cNvPr id="9" name="Arrow: Down 8"/>
          <p:cNvSpPr/>
          <p:nvPr/>
        </p:nvSpPr>
        <p:spPr>
          <a:xfrm>
            <a:off x="3543397" y="1586088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Arrow: Down 9"/>
          <p:cNvSpPr/>
          <p:nvPr/>
        </p:nvSpPr>
        <p:spPr>
          <a:xfrm>
            <a:off x="376864" y="1646414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row: Down 11"/>
          <p:cNvSpPr/>
          <p:nvPr/>
        </p:nvSpPr>
        <p:spPr>
          <a:xfrm>
            <a:off x="1934731" y="5338669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251" y="1281157"/>
            <a:ext cx="4114286" cy="1904762"/>
          </a:xfrm>
          <a:prstGeom prst="rect">
            <a:avLst/>
          </a:prstGeom>
        </p:spPr>
      </p:pic>
      <p:sp>
        <p:nvSpPr>
          <p:cNvPr id="14" name="Arrow: Down 13"/>
          <p:cNvSpPr/>
          <p:nvPr/>
        </p:nvSpPr>
        <p:spPr>
          <a:xfrm>
            <a:off x="8154908" y="1066668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Down 14"/>
          <p:cNvSpPr/>
          <p:nvPr/>
        </p:nvSpPr>
        <p:spPr>
          <a:xfrm>
            <a:off x="6339416" y="2636827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252" y="3400408"/>
            <a:ext cx="2088806" cy="193826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810" y="4083487"/>
            <a:ext cx="1960540" cy="2152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4554" y="1354504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97" y="1312415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0775" y="2762692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890" y="4540648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2421" y="5046759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8876" y="2337569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4041" y="771309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6</a:t>
            </a:r>
          </a:p>
        </p:txBody>
      </p:sp>
      <p:sp>
        <p:nvSpPr>
          <p:cNvPr id="26" name="Arrow: Down 25"/>
          <p:cNvSpPr/>
          <p:nvPr/>
        </p:nvSpPr>
        <p:spPr>
          <a:xfrm rot="2622519">
            <a:off x="5951015" y="3389357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TextBox 24"/>
          <p:cNvSpPr txBox="1"/>
          <p:nvPr/>
        </p:nvSpPr>
        <p:spPr>
          <a:xfrm>
            <a:off x="6105821" y="3334860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5319" y="5771576"/>
            <a:ext cx="796244" cy="58477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sz="32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441692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Models and Slicer model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Models are thin/hollow surfaces, most common objects in computer graphics</a:t>
            </a:r>
          </a:p>
          <a:p>
            <a:r>
              <a:rPr lang="en-CA" dirty="0"/>
              <a:t>Slicer wraps a </a:t>
            </a:r>
            <a:r>
              <a:rPr lang="en-CA" b="1" dirty="0" err="1"/>
              <a:t>vtkMRMLModelNode</a:t>
            </a:r>
            <a:r>
              <a:rPr lang="en-CA" dirty="0"/>
              <a:t> object around models, and keeps visualization properties in </a:t>
            </a:r>
            <a:r>
              <a:rPr lang="en-CA" b="1" dirty="0" err="1"/>
              <a:t>vtkMRMLModelDisplayNode</a:t>
            </a:r>
            <a:endParaRPr lang="en-CA" dirty="0"/>
          </a:p>
          <a:p>
            <a:r>
              <a:rPr lang="en-CA" dirty="0">
                <a:hlinkClick r:id="rId2"/>
              </a:rPr>
              <a:t>https://www.slicer.org/wiki/Modules:Models-Documentation</a:t>
            </a:r>
            <a:endParaRPr lang="en-CA" dirty="0"/>
          </a:p>
          <a:p>
            <a:endParaRPr lang="en-C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1828"/>
          <a:stretch/>
        </p:blipFill>
        <p:spPr>
          <a:xfrm>
            <a:off x="1154708" y="4346411"/>
            <a:ext cx="1704943" cy="1585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828"/>
          <a:stretch/>
        </p:blipFill>
        <p:spPr>
          <a:xfrm>
            <a:off x="3608561" y="4346411"/>
            <a:ext cx="1704943" cy="15853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t="1828"/>
          <a:stretch/>
        </p:blipFill>
        <p:spPr>
          <a:xfrm>
            <a:off x="6062414" y="4346409"/>
            <a:ext cx="1704943" cy="1585399"/>
          </a:xfrm>
          <a:prstGeom prst="rect">
            <a:avLst/>
          </a:prstGeom>
        </p:spPr>
      </p:pic>
      <p:sp>
        <p:nvSpPr>
          <p:cNvPr id="8" name="TextBox 6"/>
          <p:cNvSpPr txBox="1"/>
          <p:nvPr/>
        </p:nvSpPr>
        <p:spPr>
          <a:xfrm>
            <a:off x="1538530" y="5931810"/>
            <a:ext cx="95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dirty="0"/>
              <a:t>surfaces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161661" y="593181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dirty="0"/>
              <a:t>lines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540430" y="5931810"/>
            <a:ext cx="767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2373496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5AEEC3C-57F5-458C-A259-BEA2AFF0D77B}" vid="{F032F1CB-9777-488E-B287-8CA49E564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635</TotalTime>
  <Words>308</Words>
  <Application>Microsoft Office PowerPoint</Application>
  <PresentationFormat>On-screen Show (4:3)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Tool models</vt:lpstr>
      <vt:lpstr>Create simple models</vt:lpstr>
      <vt:lpstr>Needle / stylus models</vt:lpstr>
      <vt:lpstr>Load models from PLUS catalog</vt:lpstr>
      <vt:lpstr>Create models in CAD software</vt:lpstr>
      <vt:lpstr>Models by image segmentation</vt:lpstr>
      <vt:lpstr>Skull model from segmentation</vt:lpstr>
      <vt:lpstr>Models and Slicer model nodes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Ungi</dc:creator>
  <cp:lastModifiedBy>Tamas Ungi</cp:lastModifiedBy>
  <cp:revision>9</cp:revision>
  <dcterms:created xsi:type="dcterms:W3CDTF">2014-04-04T16:52:35Z</dcterms:created>
  <dcterms:modified xsi:type="dcterms:W3CDTF">2016-12-31T07:57:25Z</dcterms:modified>
</cp:coreProperties>
</file>